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OBSIDIAN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400" b="1">
                <a:solidFill>
                  <a:srgbClr val="F4F6FA"/>
                </a:solidFill>
                <a:latin typeface="Calibri"/>
              </a:defRPr>
            </a:pPr>
            <a:r>
              <a:t>Linux Synchronization Tools for RTOS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A8B1C4"/>
                </a:solidFill>
                <a:latin typeface="Calibri"/>
              </a:defRPr>
            </a:pPr>
            <a:r>
              <a:t>An interactive web app demonstrating mutex, spinlock, semaphores,</a:t>
            </a:r>
            <a:br/>
            <a:r>
              <a:t>RW-lock, deadlock and priority inversion — live in the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67080"/>
                </a:solidFill>
                <a:latin typeface="Consolas"/>
              </a:defRPr>
            </a:pPr>
            <a:r>
              <a:t>Real-Time Operating Systems ·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5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4F6FA"/>
                </a:solidFill>
                <a:latin typeface="Calibri"/>
              </a:defRPr>
            </a:pPr>
            <a:r>
              <a:t>Why synchronization in RTOS?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A8B1C4"/>
                </a:solidFill>
                <a:latin typeface="Calibri"/>
              </a:defRPr>
            </a:pPr>
            <a:r>
              <a:t>In real-time systems, threads share buffers, devices and counters. When two of them touch the same data without coordination, the result is silently wrong, the system deadlocks, or a high-priority task misses its deadline.</a:t>
            </a:r>
            <a:br/>
            <a:br/>
            <a:r>
              <a:t>Linux provides the tools to prevent this — but each comes with trade-offs. This project demonstrates them, side by side, with code you can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Six interactive demos, one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703320" cy="141732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9FFB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4F6FA"/>
                </a:solidFill>
                <a:latin typeface="Calibri"/>
              </a:defRPr>
            </a:pPr>
            <a:r>
              <a:t>Race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A8B1C4"/>
                </a:solidFill>
                <a:latin typeface="Calibri"/>
              </a:defRPr>
            </a:pPr>
            <a:r>
              <a:t>Two threads, one counter — with and without a mutex.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011680"/>
            <a:ext cx="3703320" cy="141732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76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BE0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4231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4F6FA"/>
                </a:solidFill>
                <a:latin typeface="Calibri"/>
              </a:defRPr>
            </a:pPr>
            <a:r>
              <a:t>Mutex vs spinlock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852928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A8B1C4"/>
                </a:solidFill>
                <a:latin typeface="Calibri"/>
              </a:defRPr>
            </a:pPr>
            <a:r>
              <a:t>Same workload, two locks: sleep vs busy-wait.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2011680"/>
            <a:ext cx="3703320" cy="141732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21762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B547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4231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4F6FA"/>
                </a:solidFill>
                <a:latin typeface="Calibri"/>
              </a:defRPr>
            </a:pPr>
            <a:r>
              <a:t>Producer / consumer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852928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A8B1C4"/>
                </a:solidFill>
                <a:latin typeface="Calibri"/>
              </a:defRPr>
            </a:pPr>
            <a:r>
              <a:t>Bounded buffer with two semaphores + mutex.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93592"/>
            <a:ext cx="3703320" cy="141732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581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8B7C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0507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4F6FA"/>
                </a:solidFill>
                <a:latin typeface="Calibri"/>
              </a:defRPr>
            </a:pPr>
            <a:r>
              <a:t>Readers / writers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A8B1C4"/>
                </a:solidFill>
                <a:latin typeface="Calibri"/>
              </a:defRPr>
            </a:pPr>
            <a:r>
              <a:t>Many readers may share access; writers go alone.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593592"/>
            <a:ext cx="3703320" cy="141732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37581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5C7A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00507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4F6FA"/>
                </a:solidFill>
                <a:latin typeface="Calibri"/>
              </a:defRPr>
            </a:pPr>
            <a:r>
              <a:t>Deadlock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4348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A8B1C4"/>
                </a:solidFill>
                <a:latin typeface="Calibri"/>
              </a:defRPr>
            </a:pPr>
            <a:r>
              <a:t>Circular wait — and the global lock-order fix.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3593592"/>
            <a:ext cx="3703320" cy="141732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37581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9FFB0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00507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4F6FA"/>
                </a:solidFill>
                <a:latin typeface="Calibri"/>
              </a:defRPr>
            </a:pPr>
            <a:r>
              <a:t>Priority inversion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43484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A8B1C4"/>
                </a:solidFill>
                <a:latin typeface="Calibri"/>
              </a:defRPr>
            </a:pPr>
            <a:r>
              <a:t>The bug + the priority-inheritance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How it fits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840480" cy="237744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BE0FF"/>
                </a:solidFill>
                <a:latin typeface="Consolas"/>
              </a:defRPr>
            </a:pPr>
            <a: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6FA"/>
                </a:solidFill>
                <a:latin typeface="Calibri"/>
              </a:defRPr>
            </a:pPr>
            <a:r>
              <a:t>Vanilla JS</a:t>
            </a:r>
            <a:br/>
            <a:r>
              <a:t>Chart.js</a:t>
            </a:r>
            <a:br/>
            <a:r>
              <a:t>Liquid-glass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286000"/>
            <a:ext cx="3840480" cy="237744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9FFB0"/>
                </a:solidFill>
                <a:latin typeface="Consolas"/>
              </a:defRPr>
            </a:pPr>
            <a: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78892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F4F6FA"/>
                </a:solidFill>
                <a:latin typeface="Calibri"/>
              </a:defRPr>
            </a:pPr>
            <a:r>
              <a:t>FastAPI + uvicorn</a:t>
            </a:r>
            <a:br/>
            <a:r>
              <a:t>threading + sync primitives</a:t>
            </a:r>
            <a:br/>
            <a:r>
              <a:t>6 demo modules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337560"/>
            <a:ext cx="2743200" cy="54864"/>
          </a:xfrm>
          <a:prstGeom prst="rect">
            <a:avLst/>
          </a:prstGeom>
          <a:solidFill>
            <a:srgbClr val="5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5BE0FF"/>
                </a:solidFill>
                <a:latin typeface="Consolas"/>
              </a:defRPr>
            </a:pPr>
            <a:r>
              <a:t>WebSocket  /ws/{demo}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One WebSocket route per demo. Each demo spawns real OS threads, uses real Linux-style sync primitives (mutex, semaphore, RW-lock), and pushes events live to the browser as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Liquid-glass dark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Single-page app, fully responsive</a:t>
            </a:r>
            <a:br/>
            <a:r>
              <a:t>for desktop and mobile.</a:t>
            </a:r>
            <a:br/>
            <a:br/>
            <a:r>
              <a:t>Tailwind-inspired tokens, custom CSS</a:t>
            </a:r>
            <a:br/>
            <a:r>
              <a:t>(no framework), Geist + JetBrains Mono.</a:t>
            </a:r>
          </a:p>
        </p:txBody>
      </p:sp>
      <p:pic>
        <p:nvPicPr>
          <p:cNvPr id="7" name="Picture 6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194560"/>
            <a:ext cx="7680960" cy="2074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DEMO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Race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Two threads each increment</a:t>
            </a:r>
            <a:br/>
            <a:r>
              <a:t>a shared counter.</a:t>
            </a:r>
            <a:br/>
            <a:br/>
            <a:r>
              <a:t>Without a mutex, updates are lost.</a:t>
            </a:r>
            <a:br/>
            <a:r>
              <a:t>With a mutex, the count is exact.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A8B1C4"/>
                </a:solidFill>
                <a:latin typeface="Calibri"/>
              </a:defRPr>
            </a:pPr>
            <a:r>
              <a:t>•  Real reproduction (not simulated)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A8B1C4"/>
                </a:solidFill>
                <a:latin typeface="Calibri"/>
              </a:defRPr>
            </a:pPr>
            <a:r>
              <a:t>•  Side-by-side: unsafe vs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A8B1C4"/>
                </a:solidFill>
                <a:latin typeface="Calibri"/>
              </a:defRPr>
            </a:pPr>
            <a:r>
              <a:t>•  Lost updates counted live</a:t>
            </a:r>
          </a:p>
        </p:txBody>
      </p:sp>
      <p:pic>
        <p:nvPicPr>
          <p:cNvPr id="10" name="Picture 9" descr="08_race_condi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60120"/>
            <a:ext cx="7315200" cy="6990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DEMO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Mutex vs spinlock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Same workload run with both.</a:t>
            </a:r>
            <a:br/>
            <a:br/>
            <a:r>
              <a:t>Mutex sleeps when blocked.</a:t>
            </a:r>
            <a:br/>
            <a:r>
              <a:t>Spinlock burns CPU until free.</a:t>
            </a:r>
            <a:br/>
            <a:br/>
            <a:r>
              <a:t>Linux kernel uses both, depending</a:t>
            </a:r>
            <a:br/>
            <a:r>
              <a:t>on the context.</a:t>
            </a:r>
          </a:p>
        </p:txBody>
      </p:sp>
      <p:pic>
        <p:nvPicPr>
          <p:cNvPr id="7" name="Picture 6" descr="09_mv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60120"/>
            <a:ext cx="7315200" cy="6990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DEMO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Producer /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Bounded buffer of 8 slots.</a:t>
            </a:r>
            <a:br/>
            <a:br/>
            <a:r>
              <a:t>Two semaphores (empty + full)</a:t>
            </a:r>
            <a:br/>
            <a:r>
              <a:t>plus a mutex protect the buffer.</a:t>
            </a:r>
            <a:br/>
            <a:br/>
            <a:r>
              <a:t>The animation tracks the real</a:t>
            </a:r>
            <a:br/>
            <a:r>
              <a:t>buffer state, slot by slot.</a:t>
            </a:r>
          </a:p>
        </p:txBody>
      </p:sp>
      <p:pic>
        <p:nvPicPr>
          <p:cNvPr id="7" name="Picture 6" descr="11_producer_consumer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60120"/>
            <a:ext cx="7680960" cy="2313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DEMO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Deadlock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Two threads grab two locks in</a:t>
            </a:r>
            <a:br/>
            <a:r>
              <a:t>opposite order — they wait forever.</a:t>
            </a:r>
            <a:br/>
            <a:br/>
            <a:r>
              <a:t>A 2.5-second watchdog gives up</a:t>
            </a:r>
            <a:br/>
            <a:r>
              <a:t>and reports DEADLOCKED.</a:t>
            </a:r>
            <a:br/>
            <a:br/>
            <a:r>
              <a:t>Click "Fix" to apply a global</a:t>
            </a:r>
            <a:br/>
            <a:r>
              <a:t>lock order. The cycle disappears.</a:t>
            </a:r>
          </a:p>
        </p:txBody>
      </p:sp>
      <p:pic>
        <p:nvPicPr>
          <p:cNvPr id="7" name="Picture 6" descr="10_deadlock_br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60120"/>
            <a:ext cx="7315200" cy="45439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Designed for mobile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All six demos stack into a single</a:t>
            </a:r>
            <a:br/>
            <a:r>
              <a:t>column on small screens.</a:t>
            </a:r>
            <a:br/>
            <a:br/>
            <a:r>
              <a:t>Reduced blur for performance.</a:t>
            </a:r>
            <a:br/>
            <a:r>
              <a:t>Touch targets ≥ 44 px.</a:t>
            </a:r>
            <a:br/>
            <a:r>
              <a:t>Respects prefers-reduced-motion.</a:t>
            </a:r>
          </a:p>
        </p:txBody>
      </p:sp>
      <p:pic>
        <p:nvPicPr>
          <p:cNvPr id="7" name="Picture 6" descr="12_mobil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960120"/>
            <a:ext cx="2286000" cy="230534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74320" cy="36576"/>
          </a:xfrm>
          <a:prstGeom prst="rect">
            <a:avLst/>
          </a:prstGeom>
          <a:solidFill>
            <a:srgbClr val="39F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5BE0FF"/>
                </a:solidFill>
                <a:latin typeface="Consolas"/>
              </a:defRPr>
            </a:pPr>
            <a:r>
              <a:t>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4F6FA"/>
                </a:solidFill>
                <a:latin typeface="Calibri"/>
              </a:defRPr>
            </a:pPr>
            <a:r>
              <a:t>Three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3108960"/>
          </a:xfrm>
          <a:prstGeom prst="roundRect">
            <a:avLst>
              <a:gd name="adj" fmla="val 4000"/>
            </a:avLst>
          </a:prstGeom>
          <a:solidFill>
            <a:srgbClr val="0E121B"/>
          </a:solidFill>
          <a:ln w="9525">
            <a:solidFill>
              <a:srgbClr val="22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39FFB0"/>
                </a:solidFill>
                <a:latin typeface="Consolas"/>
              </a:defRPr>
            </a:pPr>
            <a:r>
              <a:t>$ pip install -r app/requirements.txt</a:t>
            </a:r>
            <a:br/>
            <a:br/>
            <a:r>
              <a:t>$ uvicorn app.main:app --reload</a:t>
            </a:r>
            <a:br/>
            <a:br/>
            <a:r>
              <a:t>$ open http://localhost:8000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A8B1C4"/>
                </a:solidFill>
                <a:latin typeface="Calibri"/>
              </a:defRPr>
            </a:pPr>
            <a:r>
              <a:t>No Node, no build step, no database. Works on Windows, macOS, and Linux.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0" b="1">
                <a:solidFill>
                  <a:srgbClr val="F4F6FA"/>
                </a:solidFill>
                <a:latin typeface="Calibri"/>
              </a:defRPr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0">
                <a:solidFill>
                  <a:srgbClr val="5BE0FF"/>
                </a:solidFill>
                <a:latin typeface="Consolas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67080"/>
                </a:solidFill>
                <a:latin typeface="Consolas"/>
              </a:defRPr>
            </a:pPr>
            <a:r>
              <a:t>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39FFB0"/>
                </a:solidFill>
                <a:latin typeface="Consolas"/>
              </a:defRPr>
            </a:pPr>
            <a:r>
              <a:t>github.com/AllerSec/OS-PROJECT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67080"/>
                </a:solidFill>
                <a:latin typeface="Consolas"/>
              </a:defRPr>
            </a:pPr>
            <a: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5BE0FF"/>
                </a:solidFill>
                <a:latin typeface="Consolas"/>
              </a:defRPr>
            </a:pPr>
            <a:r>
              <a:t>allersec.github.io/OS-PROJECT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